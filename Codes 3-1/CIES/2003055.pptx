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85" r:id="rId5"/>
  </p:sldMasterIdLst>
  <p:notesMasterIdLst>
    <p:notesMasterId r:id="rId33"/>
  </p:notesMasterIdLst>
  <p:handoutMasterIdLst>
    <p:handoutMasterId r:id="rId34"/>
  </p:handoutMasterIdLst>
  <p:sldIdLst>
    <p:sldId id="325" r:id="rId6"/>
    <p:sldId id="326" r:id="rId7"/>
    <p:sldId id="343" r:id="rId8"/>
    <p:sldId id="346" r:id="rId9"/>
    <p:sldId id="349" r:id="rId10"/>
    <p:sldId id="356" r:id="rId11"/>
    <p:sldId id="357" r:id="rId12"/>
    <p:sldId id="358" r:id="rId13"/>
    <p:sldId id="359" r:id="rId14"/>
    <p:sldId id="344" r:id="rId15"/>
    <p:sldId id="360" r:id="rId16"/>
    <p:sldId id="341" r:id="rId17"/>
    <p:sldId id="361" r:id="rId18"/>
    <p:sldId id="366" r:id="rId19"/>
    <p:sldId id="363" r:id="rId20"/>
    <p:sldId id="371" r:id="rId21"/>
    <p:sldId id="367" r:id="rId22"/>
    <p:sldId id="376" r:id="rId23"/>
    <p:sldId id="365" r:id="rId24"/>
    <p:sldId id="370" r:id="rId25"/>
    <p:sldId id="373" r:id="rId26"/>
    <p:sldId id="372" r:id="rId27"/>
    <p:sldId id="259" r:id="rId28"/>
    <p:sldId id="374" r:id="rId29"/>
    <p:sldId id="375" r:id="rId30"/>
    <p:sldId id="354" r:id="rId31"/>
    <p:sldId id="34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ACC8C2-6726-44FF-8A62-834D1F763E7E}">
          <p14:sldIdLst>
            <p14:sldId id="325"/>
            <p14:sldId id="326"/>
            <p14:sldId id="343"/>
            <p14:sldId id="346"/>
            <p14:sldId id="349"/>
            <p14:sldId id="356"/>
            <p14:sldId id="357"/>
            <p14:sldId id="358"/>
            <p14:sldId id="359"/>
            <p14:sldId id="344"/>
            <p14:sldId id="360"/>
            <p14:sldId id="341"/>
            <p14:sldId id="361"/>
            <p14:sldId id="366"/>
            <p14:sldId id="363"/>
            <p14:sldId id="371"/>
            <p14:sldId id="367"/>
            <p14:sldId id="376"/>
            <p14:sldId id="365"/>
            <p14:sldId id="370"/>
            <p14:sldId id="373"/>
            <p14:sldId id="372"/>
            <p14:sldId id="259"/>
          </p14:sldIdLst>
        </p14:section>
        <p14:section name="Untitled Section" id="{03B30F51-9C7C-4E51-8E0C-4EDE7810E562}">
          <p14:sldIdLst>
            <p14:sldId id="374"/>
            <p14:sldId id="375"/>
            <p14:sldId id="354"/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  <p:cmAuthor id="4" name="Eazdan Mostafa Rafin" initials="EMR" lastIdx="1" clrIdx="3">
    <p:extLst>
      <p:ext uri="{19B8F6BF-5375-455C-9EA6-DF929625EA0E}">
        <p15:presenceInfo xmlns:p15="http://schemas.microsoft.com/office/powerpoint/2012/main" userId="0292d8205a523ce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0" autoAdjust="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commentAuthors" Target="comment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10/7/2024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10/7/2024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ED61-4E60-4B59-8209-32A9BFA2C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8378A-5BC2-4E3E-AF6B-758542986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E72E6-0FC5-4873-954A-F357B851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FD24C-0100-454B-A370-0108B9EB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EC36-F16A-4F3F-89F1-59ECAEA5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69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BED4-9A24-4A1A-AFF0-C068076F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3629-EB78-44B2-BD5A-3B45DD6C7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DCB4A-AE30-4121-AD61-548086BB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E6DF-E375-462B-800A-B9D3A594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29D94-EBAC-4F72-ADC8-46D073D0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67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B1C6-0DC3-42B4-BEAD-81A408B29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86AD2-32B2-498A-9782-85E0FF7B7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E9AB3-3889-45E2-BBDE-D739A3C8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9BAFA-A293-4FF2-B5F5-FB895938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FA65E-5C25-42D5-9EAE-0F949EFAA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96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C546-531A-4F25-93D9-112233FF6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439-4425-4CD5-9275-DBDBBF27B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F8970-7361-466C-8201-58B6876D6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9E8AC-F3E3-4B53-A1D1-6583A9999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D961C-2B3C-4BBB-9C35-E96839385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BEB77-3A77-469D-8518-B3BA917A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70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8586C-C7FA-4EB1-B7AA-C46CE9F5B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51C68-311E-4F8C-BAB1-194A5D325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423B7-640E-4C11-9EDF-20C8337B0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35EBC-AC28-49F2-8711-2A337BE81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6165A-60E4-489C-BFD9-851CB242AA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6DD1B-A28A-4744-AE75-B3EC5C75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EB595-BED6-4166-8372-BA1F41FD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A29EB-33FD-4707-85F1-BE0404AF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24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BE9B-08A5-4E8F-AE5B-8E6526D7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932-1BDB-43E3-B56E-7789A1BB3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FDD67-2B8C-45ED-8B80-8C33123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D2779-E92C-41FD-A4B3-713A5EC6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65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006384-E8D0-496E-AD7B-23E2B2EF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8BDA7-7937-4BF3-B673-45FE6167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1D4AA-F270-4017-A1FD-FEC70787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68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3A22-C0A0-4979-BE85-4C715C28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7DE36-0129-4D8D-BA91-C4662913E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905AF-1E34-4F5D-A493-B6F969C2C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5E146-A2FA-465F-8F56-E9195AD4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DA1F7-74F2-4A2A-8DDA-6923F0D6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DFDF2-2D64-4B26-AE1F-201C6442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57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8533-4724-4966-AB81-15653DDA9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C00A2-04E0-4BCB-93F0-6D49F820B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3F750-EF30-4DF8-ADA8-C3B028B40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5C46E-38F2-4D87-B228-9C3FED03E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83615-D87B-4F8C-AE47-ED69AD1C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7BC33-0B04-4552-A13E-FC50B889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851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57AC-A74F-420C-9A5A-B5301440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B0522-3F99-4B37-A0F5-17C13F9DB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30E47-EBAD-4781-9A66-65F6CD62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6CB0B-4C47-4147-B569-81AD456F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220EE-BA71-4B00-B976-615A5CC4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613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8DC879-ABB8-486E-AE34-D218D6EB0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BFF3F-AA6D-4FDC-AF38-7488D90AD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99EAD-1FF1-4B6C-A75F-3A415CA3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A134B-8324-4A11-9401-66BAA35E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D6145-686D-4917-A916-B00D306D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9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3EB23-F23F-4F83-9924-012EB5F9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54E5F-B232-47F1-A30C-F573448C5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2E2FB-DD6C-47BB-9202-5B4F2358B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BADFC-4954-4467-B72E-4F652BFD520B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8DD75-97D1-4E27-95B4-7913391F4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B3863-3B02-413F-B16B-1DFDE992D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86BB0-3EF2-4363-825A-8393CEAEA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9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e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hakatribune.com/" TargetMode="External"/><Relationship Id="rId2" Type="http://schemas.openxmlformats.org/officeDocument/2006/relationships/hyperlink" Target="https://www.thedailystar.net/opinion/views/the-overton-window/news/the-verge-explosion-3304956" TargetMode="Externa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www.dhakatribune.com/bangladesh/nation/305402/gas-explosions-claim-82-lives-in-3-years-in" TargetMode="External"/><Relationship Id="rId4" Type="http://schemas.openxmlformats.org/officeDocument/2006/relationships/hyperlink" Target="https://bdnews24.com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Gas Leakage Detection System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Eazdan Mostafa </a:t>
            </a:r>
            <a:r>
              <a:rPr lang="en-US" dirty="0" err="1"/>
              <a:t>rafin</a:t>
            </a:r>
            <a:r>
              <a:rPr lang="en-US" dirty="0"/>
              <a:t> [roll: 2003055]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8627"/>
            <a:ext cx="4556760" cy="397764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System overview</a:t>
            </a:r>
          </a:p>
          <a:p>
            <a:r>
              <a:rPr lang="en-US" dirty="0"/>
              <a:t>Circuit Diagram</a:t>
            </a:r>
          </a:p>
          <a:p>
            <a:r>
              <a:rPr lang="en-US" dirty="0"/>
              <a:t>Code Snippet</a:t>
            </a:r>
          </a:p>
          <a:p>
            <a:r>
              <a:rPr lang="en-US" dirty="0"/>
              <a:t>System Operation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41386" y="1394460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2D7109F-1E21-4443-87BB-822A0481FF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A0E063-F0C7-4FC9-B0B2-E70872E841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8729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7B7D-D88E-492F-9E7B-091F2BC0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093" y="7724986"/>
            <a:ext cx="5029200" cy="1828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29F0-D47B-4AD3-83BE-7DEE7A04C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5016" y="2237048"/>
            <a:ext cx="4306824" cy="539496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Gas leaks, especially from cooking gas (LPG) or natural gas, can lead to dangerous situations like fires, explosions, or carbon monoxide poisoning both in residential houses and industries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5EC9AF6-2DBA-48E6-BDB4-471E34139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87" y="665018"/>
            <a:ext cx="5048713" cy="486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73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BB8C-E7FF-4DC3-85D2-1CD7742E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Situation in </a:t>
            </a:r>
            <a:r>
              <a:rPr lang="en-US" dirty="0" err="1"/>
              <a:t>bangladesh</a:t>
            </a:r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CD1D950-630B-4B00-924B-0946C0C5E96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61872" y="7171112"/>
            <a:ext cx="9619488" cy="3429000"/>
          </a:xfrm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F7D4E7-1854-4ED1-A5A4-508E362134B4}"/>
              </a:ext>
            </a:extLst>
          </p:cNvPr>
          <p:cNvSpPr txBox="1"/>
          <p:nvPr/>
        </p:nvSpPr>
        <p:spPr>
          <a:xfrm>
            <a:off x="1261872" y="2170545"/>
            <a:ext cx="52370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101828"/>
                </a:solidFill>
                <a:effectLst/>
                <a:latin typeface="Noto Serif JP"/>
              </a:rPr>
              <a:t>A report by </a:t>
            </a:r>
            <a:r>
              <a:rPr lang="en-US" sz="2800" b="0" i="1" dirty="0">
                <a:solidFill>
                  <a:srgbClr val="101828"/>
                </a:solidFill>
                <a:effectLst/>
                <a:latin typeface="Noto Serif JP"/>
              </a:rPr>
              <a:t>Prothom </a:t>
            </a:r>
            <a:r>
              <a:rPr lang="en-US" sz="2800" b="0" i="1" dirty="0" err="1">
                <a:solidFill>
                  <a:srgbClr val="101828"/>
                </a:solidFill>
                <a:effectLst/>
                <a:latin typeface="Noto Serif JP"/>
              </a:rPr>
              <a:t>Alo</a:t>
            </a:r>
            <a:r>
              <a:rPr lang="en-US" sz="2800" b="0" i="0" dirty="0">
                <a:solidFill>
                  <a:srgbClr val="101828"/>
                </a:solidFill>
                <a:effectLst/>
                <a:latin typeface="Noto Serif JP"/>
              </a:rPr>
              <a:t> on March 5, 2021 revealed that more than 500 leakages are reported in Dhaka every month.</a:t>
            </a:r>
            <a:r>
              <a:rPr lang="en-US" sz="2800" b="1" i="0" baseline="30000" dirty="0">
                <a:solidFill>
                  <a:srgbClr val="101828"/>
                </a:solidFill>
                <a:effectLst/>
                <a:latin typeface="Noto Serif JP"/>
              </a:rPr>
              <a:t>[1]  </a:t>
            </a:r>
            <a:r>
              <a:rPr lang="en-US" sz="2800" dirty="0">
                <a:solidFill>
                  <a:srgbClr val="101828"/>
                </a:solidFill>
                <a:latin typeface="Noto Serif JP"/>
              </a:rPr>
              <a:t>While</a:t>
            </a:r>
            <a:r>
              <a:rPr lang="en-US" sz="2800" b="1" dirty="0">
                <a:solidFill>
                  <a:srgbClr val="101828"/>
                </a:solidFill>
                <a:latin typeface="Noto Serif JP"/>
              </a:rPr>
              <a:t> </a:t>
            </a:r>
            <a:r>
              <a:rPr lang="en-US" sz="2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Gas explosions claim 82 lives in 3 years in Narayanganj from 2020 to 2022.</a:t>
            </a:r>
            <a:r>
              <a:rPr lang="en-US" sz="2800" b="1" i="0" baseline="3000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[3]</a:t>
            </a:r>
            <a:endParaRPr lang="en-US" sz="2800" b="1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1B76D-192D-4A71-961B-DCEED11B7FEC}"/>
              </a:ext>
            </a:extLst>
          </p:cNvPr>
          <p:cNvSpPr txBox="1"/>
          <p:nvPr/>
        </p:nvSpPr>
        <p:spPr>
          <a:xfrm>
            <a:off x="11961091" y="6650182"/>
            <a:ext cx="22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A5A0D3-C7DC-4EB3-9863-2B72E651DA12}"/>
              </a:ext>
            </a:extLst>
          </p:cNvPr>
          <p:cNvSpPr txBox="1"/>
          <p:nvPr/>
        </p:nvSpPr>
        <p:spPr>
          <a:xfrm>
            <a:off x="11694991" y="1462505"/>
            <a:ext cx="378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[2]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F5319-E830-4A2B-A033-6CE7D031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890" y="1708726"/>
            <a:ext cx="5462201" cy="502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7CF-A156-4E84-95D8-B3FFDA3D3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973441"/>
            <a:ext cx="10241280" cy="2286000"/>
          </a:xfrm>
        </p:spPr>
        <p:txBody>
          <a:bodyPr/>
          <a:lstStyle/>
          <a:p>
            <a:r>
              <a:rPr lang="en-US" dirty="0"/>
              <a:t>How to prevent such gas leaks explosions?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68AD3-D973-41FB-8FF2-9AC179B23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0197" y="4884559"/>
            <a:ext cx="8046720" cy="9144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1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5F70-4F13-460A-B818-E3E04AF77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637309"/>
            <a:ext cx="10241280" cy="408709"/>
          </a:xfrm>
        </p:spPr>
        <p:txBody>
          <a:bodyPr/>
          <a:lstStyle/>
          <a:p>
            <a:r>
              <a:rPr lang="en-US" sz="2000" dirty="0"/>
              <a:t>How to prevent such gas leaks explosions?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672C3-3BDC-4D03-AB58-0E931B40D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0196" y="1744195"/>
            <a:ext cx="8046720" cy="914400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tillium Web" panose="020B0604020202020204" pitchFamily="2" charset="0"/>
              </a:rPr>
              <a:t>	</a:t>
            </a:r>
            <a:r>
              <a:rPr lang="en-US" b="1" i="0" dirty="0">
                <a:solidFill>
                  <a:srgbClr val="000000"/>
                </a:solidFill>
                <a:effectLst/>
                <a:latin typeface="Titillium Web" panose="020B0604020202020204" pitchFamily="2" charset="0"/>
              </a:rPr>
              <a:t>Recognize, Prevent, and Take 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49C81E-1415-4D73-AA5A-AA35E8D59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780" y="2294924"/>
            <a:ext cx="5325551" cy="31665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334573-B77A-41B5-AEE1-89EE171ACCD3}"/>
              </a:ext>
            </a:extLst>
          </p:cNvPr>
          <p:cNvSpPr txBox="1"/>
          <p:nvPr/>
        </p:nvSpPr>
        <p:spPr>
          <a:xfrm>
            <a:off x="1967345" y="2556995"/>
            <a:ext cx="3722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Among them Recognize or Detection is the first and most crucial!</a:t>
            </a:r>
          </a:p>
        </p:txBody>
      </p:sp>
    </p:spTree>
    <p:extLst>
      <p:ext uri="{BB962C8B-B14F-4D97-AF65-F5344CB8AC3E}">
        <p14:creationId xmlns:p14="http://schemas.microsoft.com/office/powerpoint/2010/main" val="163293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EC09-F9EF-4592-9670-862B5D8E7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190" y="441036"/>
            <a:ext cx="2143483" cy="990600"/>
          </a:xfrm>
        </p:spPr>
        <p:txBody>
          <a:bodyPr/>
          <a:lstStyle/>
          <a:p>
            <a:r>
              <a:rPr lang="en-US" dirty="0"/>
              <a:t>BUT…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A33D7-43BE-4971-A745-B2A47ED6D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5" y="1557053"/>
            <a:ext cx="3682815" cy="3360559"/>
          </a:xfrm>
        </p:spPr>
        <p:txBody>
          <a:bodyPr/>
          <a:lstStyle/>
          <a:p>
            <a:r>
              <a:rPr lang="en-US" sz="3200" b="0" i="0" dirty="0">
                <a:solidFill>
                  <a:srgbClr val="666666"/>
                </a:solidFill>
                <a:effectLst/>
                <a:latin typeface="Titillium Web" panose="00000500000000000000" pitchFamily="2" charset="0"/>
              </a:rPr>
              <a:t>Manual detection may not be sufficient due to distraction, absence from home, or simple forgetfulness.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646C6-485A-4705-AE62-349C99A239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" t="238" r="15" b="9760"/>
          <a:stretch/>
        </p:blipFill>
        <p:spPr>
          <a:xfrm>
            <a:off x="5656352" y="993626"/>
            <a:ext cx="5781962" cy="4487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A891DE-5C83-44F4-BC01-4BB0A1DCA472}"/>
              </a:ext>
            </a:extLst>
          </p:cNvPr>
          <p:cNvSpPr txBox="1"/>
          <p:nvPr/>
        </p:nvSpPr>
        <p:spPr>
          <a:xfrm>
            <a:off x="4294909" y="129309"/>
            <a:ext cx="3094182" cy="489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5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4568-106D-4732-9C25-A00AACF9A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722351"/>
            <a:ext cx="10241280" cy="1600200"/>
          </a:xfrm>
        </p:spPr>
        <p:txBody>
          <a:bodyPr/>
          <a:lstStyle/>
          <a:p>
            <a:r>
              <a:rPr lang="en-US" dirty="0"/>
              <a:t>Technological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F1652-8356-43AC-8987-13CCDB91A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9434" y="2971800"/>
            <a:ext cx="4020312" cy="914400"/>
          </a:xfrm>
        </p:spPr>
        <p:txBody>
          <a:bodyPr/>
          <a:lstStyle/>
          <a:p>
            <a:r>
              <a:rPr lang="en-US" dirty="0">
                <a:solidFill>
                  <a:srgbClr val="666666"/>
                </a:solidFill>
                <a:latin typeface="Titillium Web" panose="00000500000000000000" pitchFamily="2" charset="0"/>
              </a:rPr>
              <a:t>T</a:t>
            </a:r>
            <a:r>
              <a:rPr lang="en-US" b="0" i="0" dirty="0">
                <a:solidFill>
                  <a:srgbClr val="666666"/>
                </a:solidFill>
                <a:effectLst/>
                <a:latin typeface="Titillium Web" panose="00000500000000000000" pitchFamily="2" charset="0"/>
              </a:rPr>
              <a:t>echnology lends us a big hand, helping us with automatic checks 24 hours a day, 365 days a year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D45B8-6CBE-4DEC-B820-6CB562F8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437" y="281463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4A57B6-2222-4ABC-9D9A-72FE8893D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379" y="1596666"/>
            <a:ext cx="1790373" cy="2987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198291-8E55-4BB0-9215-85774B86B6C1}"/>
              </a:ext>
            </a:extLst>
          </p:cNvPr>
          <p:cNvSpPr txBox="1"/>
          <p:nvPr/>
        </p:nvSpPr>
        <p:spPr>
          <a:xfrm>
            <a:off x="7213600" y="4957762"/>
            <a:ext cx="4257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Different GAS Detectors </a:t>
            </a:r>
          </a:p>
        </p:txBody>
      </p:sp>
    </p:spTree>
    <p:extLst>
      <p:ext uri="{BB962C8B-B14F-4D97-AF65-F5344CB8AC3E}">
        <p14:creationId xmlns:p14="http://schemas.microsoft.com/office/powerpoint/2010/main" val="357131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486B9A6-6271-4810-B477-43851024A0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7F8149-4AF8-4D5C-843C-2B59E714C6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69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E2EF-98C8-4484-8AE9-BDFF86D2B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the Gas Detection System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5E2F0-3087-4BD9-92F9-140E2C73D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3"/>
            <a:ext cx="6255512" cy="1543951"/>
          </a:xfrm>
        </p:spPr>
        <p:txBody>
          <a:bodyPr/>
          <a:lstStyle/>
          <a:p>
            <a:r>
              <a:rPr lang="en-US" dirty="0"/>
              <a:t>The sensor monitors gas concentration and triggers an alert when a predefined threshold is crossed.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CAF1A-7B1C-45AA-8885-2B7C2592C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690" y="2921338"/>
            <a:ext cx="2891741" cy="289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1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BDD0-A895-4652-8C3F-9687F1433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31919" y="939800"/>
            <a:ext cx="8046720" cy="260927"/>
          </a:xfrm>
        </p:spPr>
        <p:txBody>
          <a:bodyPr/>
          <a:lstStyle/>
          <a:p>
            <a:r>
              <a:rPr lang="en-US" sz="3600" dirty="0"/>
              <a:t>Main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1105C-C770-437C-A625-4C32878BA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4016" y="6999686"/>
            <a:ext cx="8046720" cy="914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CE187-670A-4EA1-AFCA-A78D4329D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28" y="1273590"/>
            <a:ext cx="2348818" cy="2438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818CF2-EADE-4737-B749-11410E78CC19}"/>
              </a:ext>
            </a:extLst>
          </p:cNvPr>
          <p:cNvSpPr txBox="1"/>
          <p:nvPr/>
        </p:nvSpPr>
        <p:spPr>
          <a:xfrm>
            <a:off x="686719" y="3546208"/>
            <a:ext cx="1072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MQ-2 Gas Sensor		 Arduino UNO		Piezo (Buzzer)		          LED		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35CA7D-2F19-406A-93A6-F97B6F0C9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509" y="1313790"/>
            <a:ext cx="2232418" cy="22324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CE4E1E-A13B-4C32-80C3-15D9D95D2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145" y="1487055"/>
            <a:ext cx="2618928" cy="14325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E09105-06AC-4D8F-8F5A-79D0CEB95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341" y="1487055"/>
            <a:ext cx="1585114" cy="14325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D3DBE8-EBEC-4849-83B4-83492C2DC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944" y="1487055"/>
            <a:ext cx="1309373" cy="13093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59D952-472E-4D18-9A0E-B514546F0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4812" y="4121779"/>
            <a:ext cx="1786997" cy="16970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667EF0-3FDF-4904-9878-17E57959F173}"/>
              </a:ext>
            </a:extLst>
          </p:cNvPr>
          <p:cNvSpPr txBox="1"/>
          <p:nvPr/>
        </p:nvSpPr>
        <p:spPr>
          <a:xfrm>
            <a:off x="1668702" y="5953452"/>
            <a:ext cx="1639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Bread 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1520FA-E611-4F72-A118-1B94B56CAF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1700" y="4256660"/>
            <a:ext cx="1635029" cy="16350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5E7A30-E914-47B1-AF55-B3EAF9397DE2}"/>
              </a:ext>
            </a:extLst>
          </p:cNvPr>
          <p:cNvSpPr txBox="1"/>
          <p:nvPr/>
        </p:nvSpPr>
        <p:spPr>
          <a:xfrm>
            <a:off x="5467927" y="6003492"/>
            <a:ext cx="1639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Resistor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AA03ED-B845-4634-A05A-7B5BC4BD90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1383" y="4121779"/>
            <a:ext cx="1635029" cy="16350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F28D29-99E1-43D3-BA50-1E66AC817420}"/>
              </a:ext>
            </a:extLst>
          </p:cNvPr>
          <p:cNvSpPr txBox="1"/>
          <p:nvPr/>
        </p:nvSpPr>
        <p:spPr>
          <a:xfrm>
            <a:off x="8678948" y="5953452"/>
            <a:ext cx="201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Jumper Wires</a:t>
            </a:r>
          </a:p>
        </p:txBody>
      </p:sp>
    </p:spTree>
    <p:extLst>
      <p:ext uri="{BB962C8B-B14F-4D97-AF65-F5344CB8AC3E}">
        <p14:creationId xmlns:p14="http://schemas.microsoft.com/office/powerpoint/2010/main" val="2722399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2D7109F-1E21-4443-87BB-822A0481FF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A0E063-F0C7-4FC9-B0B2-E70872E841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</a:p>
        </p:txBody>
      </p:sp>
    </p:spTree>
    <p:extLst>
      <p:ext uri="{BB962C8B-B14F-4D97-AF65-F5344CB8AC3E}">
        <p14:creationId xmlns:p14="http://schemas.microsoft.com/office/powerpoint/2010/main" val="61473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645244-E31F-43CF-84E0-EC1A32AEE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222"/>
            <a:ext cx="12192000" cy="474662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32C08D-7BC8-4C49-A30C-0B801635F023}"/>
              </a:ext>
            </a:extLst>
          </p:cNvPr>
          <p:cNvCxnSpPr/>
          <p:nvPr/>
        </p:nvCxnSpPr>
        <p:spPr>
          <a:xfrm flipV="1">
            <a:off x="6773333" y="939800"/>
            <a:ext cx="0" cy="567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E466F4-DDD4-46C1-A1B8-0D5078C77862}"/>
              </a:ext>
            </a:extLst>
          </p:cNvPr>
          <p:cNvCxnSpPr/>
          <p:nvPr/>
        </p:nvCxnSpPr>
        <p:spPr>
          <a:xfrm>
            <a:off x="6773333" y="939800"/>
            <a:ext cx="3175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3E2E09-6C49-4208-A521-05EEF0B0DA64}"/>
              </a:ext>
            </a:extLst>
          </p:cNvPr>
          <p:cNvCxnSpPr/>
          <p:nvPr/>
        </p:nvCxnSpPr>
        <p:spPr>
          <a:xfrm>
            <a:off x="7713133" y="1913467"/>
            <a:ext cx="2235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07B8F9-3D97-4EC9-9DBD-39EC5497E403}"/>
              </a:ext>
            </a:extLst>
          </p:cNvPr>
          <p:cNvCxnSpPr/>
          <p:nvPr/>
        </p:nvCxnSpPr>
        <p:spPr>
          <a:xfrm>
            <a:off x="5985933" y="2345267"/>
            <a:ext cx="3962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0D6153-ECEE-40DE-B852-0D76416E9015}"/>
              </a:ext>
            </a:extLst>
          </p:cNvPr>
          <p:cNvCxnSpPr/>
          <p:nvPr/>
        </p:nvCxnSpPr>
        <p:spPr>
          <a:xfrm>
            <a:off x="7298267" y="4199467"/>
            <a:ext cx="2726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11E5683-A533-4D91-842E-FF0B0E932615}"/>
              </a:ext>
            </a:extLst>
          </p:cNvPr>
          <p:cNvCxnSpPr/>
          <p:nvPr/>
        </p:nvCxnSpPr>
        <p:spPr>
          <a:xfrm>
            <a:off x="6434667" y="1981200"/>
            <a:ext cx="0" cy="922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0EB9D5-0F18-4BDE-90D6-9A790E4DF676}"/>
              </a:ext>
            </a:extLst>
          </p:cNvPr>
          <p:cNvCxnSpPr/>
          <p:nvPr/>
        </p:nvCxnSpPr>
        <p:spPr>
          <a:xfrm>
            <a:off x="6443133" y="2895600"/>
            <a:ext cx="3505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54172F2-1242-4338-AC2C-B298FCAB3F1B}"/>
              </a:ext>
            </a:extLst>
          </p:cNvPr>
          <p:cNvSpPr txBox="1"/>
          <p:nvPr/>
        </p:nvSpPr>
        <p:spPr>
          <a:xfrm>
            <a:off x="9948333" y="829733"/>
            <a:ext cx="134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220 </a:t>
            </a:r>
            <a:r>
              <a:rPr lang="el-GR" sz="1400" i="0" dirty="0">
                <a:solidFill>
                  <a:srgbClr val="373331"/>
                </a:solidFill>
                <a:effectLst/>
                <a:cs typeface="Times New Roman" panose="02020603050405020304" pitchFamily="18" charset="0"/>
              </a:rPr>
              <a:t>Ω</a:t>
            </a:r>
            <a:r>
              <a:rPr lang="en-US" sz="1400" i="0" dirty="0">
                <a:solidFill>
                  <a:srgbClr val="373331"/>
                </a:solidFill>
                <a:effectLst/>
                <a:cs typeface="Times New Roman" panose="02020603050405020304" pitchFamily="18" charset="0"/>
              </a:rPr>
              <a:t> Resistor</a:t>
            </a:r>
            <a:endParaRPr lang="el-GR" sz="1400" i="0" dirty="0">
              <a:solidFill>
                <a:srgbClr val="373331"/>
              </a:solidFill>
              <a:effectLst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C38278-C134-40BB-9A01-1C3D22C0180B}"/>
              </a:ext>
            </a:extLst>
          </p:cNvPr>
          <p:cNvSpPr txBox="1"/>
          <p:nvPr/>
        </p:nvSpPr>
        <p:spPr>
          <a:xfrm>
            <a:off x="10024533" y="1837267"/>
            <a:ext cx="1346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Piezo (Buzzer)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341127-D1B0-41C9-ACC5-CCD15E4C4131}"/>
              </a:ext>
            </a:extLst>
          </p:cNvPr>
          <p:cNvSpPr txBox="1"/>
          <p:nvPr/>
        </p:nvSpPr>
        <p:spPr>
          <a:xfrm>
            <a:off x="10024532" y="2204553"/>
            <a:ext cx="1413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MQ-2 Sensor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273683-C913-4C81-9CA6-288993EE433B}"/>
              </a:ext>
            </a:extLst>
          </p:cNvPr>
          <p:cNvSpPr txBox="1"/>
          <p:nvPr/>
        </p:nvSpPr>
        <p:spPr>
          <a:xfrm>
            <a:off x="10024532" y="2481551"/>
            <a:ext cx="1269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Red LED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2CB5489-DF52-45F4-92EB-C1CB2819EA35}"/>
              </a:ext>
            </a:extLst>
          </p:cNvPr>
          <p:cNvCxnSpPr/>
          <p:nvPr/>
        </p:nvCxnSpPr>
        <p:spPr>
          <a:xfrm>
            <a:off x="6773333" y="1991155"/>
            <a:ext cx="0" cy="628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5BCBF63-EC6A-424A-8766-139053BBA42C}"/>
              </a:ext>
            </a:extLst>
          </p:cNvPr>
          <p:cNvCxnSpPr/>
          <p:nvPr/>
        </p:nvCxnSpPr>
        <p:spPr>
          <a:xfrm>
            <a:off x="6773333" y="2620050"/>
            <a:ext cx="3175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7AD01DF-05BD-4E36-A42A-BF8ACA148434}"/>
              </a:ext>
            </a:extLst>
          </p:cNvPr>
          <p:cNvSpPr txBox="1"/>
          <p:nvPr/>
        </p:nvSpPr>
        <p:spPr>
          <a:xfrm>
            <a:off x="10024532" y="2756757"/>
            <a:ext cx="1185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Green LED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1CDB8F-DFF5-48DE-AB5B-BDFD2EC64206}"/>
              </a:ext>
            </a:extLst>
          </p:cNvPr>
          <p:cNvSpPr txBox="1"/>
          <p:nvPr/>
        </p:nvSpPr>
        <p:spPr>
          <a:xfrm>
            <a:off x="10024532" y="4068673"/>
            <a:ext cx="1219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Arduino UNO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754BA9-B2EF-4312-8488-D3C0C7C386F4}"/>
              </a:ext>
            </a:extLst>
          </p:cNvPr>
          <p:cNvSpPr txBox="1"/>
          <p:nvPr/>
        </p:nvSpPr>
        <p:spPr>
          <a:xfrm>
            <a:off x="4741334" y="5827725"/>
            <a:ext cx="447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Daytona Condensed Light" panose="020B0306030503040204" pitchFamily="34" charset="0"/>
              </a:rPr>
              <a:t>Figure: Gas Leakage Detection System</a:t>
            </a:r>
          </a:p>
        </p:txBody>
      </p:sp>
    </p:spTree>
    <p:extLst>
      <p:ext uri="{BB962C8B-B14F-4D97-AF65-F5344CB8AC3E}">
        <p14:creationId xmlns:p14="http://schemas.microsoft.com/office/powerpoint/2010/main" val="4282099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690F7ED-5AE3-47B1-A7AD-72723C33EE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5777D0-9A9B-4720-85BF-491B23104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Snippet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904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35D7-AC85-42F6-AE6B-FFCFBBE762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DDF5A-6BAD-4117-9080-EBA8D4075D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B26A15-BB69-428B-91DC-6D7776BB7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" y="694944"/>
            <a:ext cx="10954512" cy="587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74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1EFAA6-DFA1-4D21-B33D-1ADCA8F973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5A6E26-C08D-4CC7-822F-8120F720A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Operation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240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A60-61A0-4287-90F2-F0C9543CE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1009073"/>
          </a:xfrm>
        </p:spPr>
        <p:txBody>
          <a:bodyPr/>
          <a:lstStyle/>
          <a:p>
            <a:r>
              <a:rPr lang="en-US" dirty="0"/>
              <a:t>Threshold value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9DDA1-D0B3-45F7-AAB8-B8224EA70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7143" y="2363032"/>
            <a:ext cx="8046720" cy="914400"/>
          </a:xfrm>
        </p:spPr>
        <p:txBody>
          <a:bodyPr/>
          <a:lstStyle/>
          <a:p>
            <a:r>
              <a:rPr lang="en-US" dirty="0"/>
              <a:t>This analog voltage of the sensor is read by the Arduino as a value between 0 and 1023 (corresponding to 0V to 5V). The threshold of 400 is a chosen reference point to indicate when gas levels become potentially dangerous.</a:t>
            </a:r>
            <a:r>
              <a:rPr lang="en-US" baseline="30000" dirty="0"/>
              <a:t>[4]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42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3900-F1A4-4BAC-B078-F52B60E43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627" y="366776"/>
            <a:ext cx="4197096" cy="1298448"/>
          </a:xfrm>
        </p:spPr>
        <p:txBody>
          <a:bodyPr/>
          <a:lstStyle/>
          <a:p>
            <a:r>
              <a:rPr lang="en-US" sz="3200" b="1" dirty="0"/>
              <a:t>Safe Condition</a:t>
            </a:r>
            <a:r>
              <a:rPr lang="en-US" sz="3200" dirty="0"/>
              <a:t>: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5DDFF8-BFD5-4E9F-98EA-F3F4C79DB1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4360" y="1082780"/>
            <a:ext cx="55690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 concentration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detected by the MQ-2 sensor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 the set threshold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400), the system operates in a safe mode.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this state,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 LED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that the environment is free from any hazardous gas leaks.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stays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meaning there is no immediate danger, and no action is required from the user.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D10D8-64EB-4DC3-A28E-22893D056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4" y="677022"/>
            <a:ext cx="5376670" cy="4553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5ABC91-64A9-4851-993B-189800C73E78}"/>
              </a:ext>
            </a:extLst>
          </p:cNvPr>
          <p:cNvSpPr txBox="1"/>
          <p:nvPr/>
        </p:nvSpPr>
        <p:spPr>
          <a:xfrm>
            <a:off x="7022592" y="5086140"/>
            <a:ext cx="280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 Gas Level Under Threshold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18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68F8-313B-40D8-8014-EBC902FBD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7373" y="734726"/>
            <a:ext cx="8046720" cy="512064"/>
          </a:xfrm>
        </p:spPr>
        <p:txBody>
          <a:bodyPr/>
          <a:lstStyle/>
          <a:p>
            <a:r>
              <a:rPr lang="en-US" sz="3200" b="1" dirty="0"/>
              <a:t>Gas Leak Detected: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D01E7E-A58A-4386-A529-5D0A7B9DB6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2966" y="1182255"/>
            <a:ext cx="51660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the gas concentration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crosses the predefined threshold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system immediately switches to an alert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this scenario,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LED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turns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signaling a potentially dangerous situation due to the presence of high gas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Simultaneously,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emitting a loud sound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nearby individuals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detected gas leak.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6D487-558E-4260-81C9-771BE6F53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677022"/>
            <a:ext cx="5660138" cy="4589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6EA6CD-41BD-48A4-9716-3F17FEACC3DE}"/>
              </a:ext>
            </a:extLst>
          </p:cNvPr>
          <p:cNvSpPr txBox="1"/>
          <p:nvPr/>
        </p:nvSpPr>
        <p:spPr>
          <a:xfrm>
            <a:off x="6638544" y="5089109"/>
            <a:ext cx="256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Gas Level Over Threshold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91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D28EF4C-CE82-455F-AE95-B268F603B9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0D1CB-1A62-4E30-8C46-0E05F1566B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78472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B684-E5FB-4741-8AE3-741A37DAAC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B24D8-65F2-4156-B59D-656E5CC7EB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ircuit design Gas_Sensor - Tinkercad - Google Chrome 2024-10-03 15-48-04">
            <a:hlinkClick r:id="" action="ppaction://media"/>
            <a:extLst>
              <a:ext uri="{FF2B5EF4-FFF2-40B4-BE49-F238E27FC236}">
                <a16:creationId xmlns:a16="http://schemas.microsoft.com/office/drawing/2014/main" id="{3F0328E6-05F2-45F5-92D2-57DE34E888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12548" b="-12548"/>
          <a:stretch/>
        </p:blipFill>
        <p:spPr>
          <a:xfrm>
            <a:off x="509803" y="266931"/>
            <a:ext cx="11172393" cy="600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9697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CC42-A426-4396-8D9F-609EC1354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74760" y="512620"/>
            <a:ext cx="7426683" cy="565727"/>
          </a:xfrm>
        </p:spPr>
        <p:txBody>
          <a:bodyPr/>
          <a:lstStyle/>
          <a:p>
            <a:r>
              <a:rPr lang="en-US" sz="2800" b="1" dirty="0"/>
              <a:t>Project Summary: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C6FBC-27EC-4D08-A81B-54E15522A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634" y="1190013"/>
            <a:ext cx="10993766" cy="1156024"/>
          </a:xfrm>
        </p:spPr>
        <p:txBody>
          <a:bodyPr/>
          <a:lstStyle/>
          <a:p>
            <a:r>
              <a:rPr lang="en-US" dirty="0"/>
              <a:t>Utilizing the </a:t>
            </a:r>
            <a:r>
              <a:rPr lang="en-US" b="1" dirty="0"/>
              <a:t>MQ-2 gas sensor</a:t>
            </a:r>
            <a:r>
              <a:rPr lang="en-US" dirty="0"/>
              <a:t> and </a:t>
            </a:r>
            <a:r>
              <a:rPr lang="en-US" b="1" dirty="0"/>
              <a:t>Arduino</a:t>
            </a:r>
            <a:r>
              <a:rPr lang="en-US" dirty="0"/>
              <a:t>, the project effectively combines </a:t>
            </a:r>
            <a:r>
              <a:rPr lang="en-US" b="1" dirty="0"/>
              <a:t>visual (LED) and audible (buzzer) alarms</a:t>
            </a:r>
            <a:r>
              <a:rPr lang="en-US" dirty="0"/>
              <a:t> to ensure a swift response in case of a gas leak, reducing the risk of accidents such as fires or explosions.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BDE04-B9C4-4A16-BA14-CF5DC8EBEDC2}"/>
              </a:ext>
            </a:extLst>
          </p:cNvPr>
          <p:cNvSpPr txBox="1"/>
          <p:nvPr/>
        </p:nvSpPr>
        <p:spPr>
          <a:xfrm>
            <a:off x="655782" y="2530764"/>
            <a:ext cx="416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POTENTIAL USES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242D6-B698-46CD-9919-65740851AF3D}"/>
              </a:ext>
            </a:extLst>
          </p:cNvPr>
          <p:cNvSpPr txBox="1"/>
          <p:nvPr/>
        </p:nvSpPr>
        <p:spPr>
          <a:xfrm>
            <a:off x="655782" y="3121891"/>
            <a:ext cx="10926618" cy="2440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</a:pPr>
            <a:r>
              <a:rPr lang="en-US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Homes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In domestic environments, the system can be used to monitor kitchens or storage areas where LPG, natural gas, or other combustible gases are present.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</a:pPr>
            <a:r>
              <a:rPr lang="en-US" sz="2400" b="1" dirty="0">
                <a:effectLst/>
                <a:ea typeface="Times New Roman" panose="02020603050405020304" pitchFamily="18" charset="0"/>
              </a:rPr>
              <a:t>Industries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: In industrial settings where gases are commonly used or stored, such as chemical plants, refineries, or factories, this system can enhance safety measures. </a:t>
            </a:r>
            <a:endParaRPr lang="en-US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</a:pPr>
            <a:r>
              <a:rPr lang="en-US" sz="2400" b="1" dirty="0">
                <a:effectLst/>
                <a:ea typeface="Times New Roman" panose="02020603050405020304" pitchFamily="18" charset="0"/>
              </a:rPr>
              <a:t>Commercial Spaces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: Restaurants, hotels, and other commercial spaces using gas appliances can benefit from this system to ensure customer and staff safety.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08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D5C6-E7FC-4E5C-85AF-ACE471F18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807" y="646545"/>
            <a:ext cx="6346029" cy="565727"/>
          </a:xfrm>
        </p:spPr>
        <p:txBody>
          <a:bodyPr/>
          <a:lstStyle/>
          <a:p>
            <a:r>
              <a:rPr lang="en-US" sz="3200" b="1" dirty="0"/>
              <a:t>Future Improvements</a:t>
            </a:r>
            <a:r>
              <a:rPr lang="en-US" sz="3200" dirty="0"/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B8446-9F36-414E-8A3C-C74D967F0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997" y="1439395"/>
            <a:ext cx="6144676" cy="39269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Add Wi-Fi for Remote Monitoring: </a:t>
            </a:r>
            <a:r>
              <a:rPr lang="en-US" dirty="0"/>
              <a:t>By incorporating a Wi-Fi module (e.g., ESP8266) into the system, users can receive real-time alerts on their smartphones or other connected devices, even when they are away from the premises.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Integrate an Automatic Gas Supply Cutoff Using a Relay</a:t>
            </a:r>
            <a:r>
              <a:rPr lang="en-US" dirty="0"/>
              <a:t>: A relay module can be added to automatically shut off the gas supply when a leak is detected.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CB3F1-EC57-448A-857D-B0016562F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060" t="9428" r="6060" b="15436"/>
          <a:stretch/>
        </p:blipFill>
        <p:spPr>
          <a:xfrm>
            <a:off x="7390477" y="1535083"/>
            <a:ext cx="2358734" cy="1645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1BF1A4-BC0F-49B7-879A-437203D9A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72" y="3181003"/>
            <a:ext cx="2358734" cy="235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4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BC66-DDA6-4B4B-83F4-A9B6DF5D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FAEE2-21CE-46E6-A73D-8A804C5BC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https://www.thedailystar.net/opinion/views/the-overton-window/news/the-verge-explosion-3304956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https://www.dhakatribune.com/</a:t>
            </a:r>
            <a:r>
              <a:rPr lang="en-US" dirty="0"/>
              <a:t> , </a:t>
            </a:r>
            <a:r>
              <a:rPr lang="en-US" dirty="0">
                <a:hlinkClick r:id="rId4"/>
              </a:rPr>
              <a:t>https://bdnews24.com/</a:t>
            </a:r>
            <a:r>
              <a:rPr lang="en-US" dirty="0"/>
              <a:t> https://www.voanews.com/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5"/>
              </a:rPr>
              <a:t>https://www.dhakatribune.com/bangladesh/nation/305402/gas-explosions-claim-82-lives-in-3-years-in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S. J. D. </a:t>
            </a:r>
            <a:r>
              <a:rPr lang="en-US" dirty="0" err="1"/>
              <a:t>Galceran</a:t>
            </a:r>
            <a:r>
              <a:rPr lang="en-US" dirty="0"/>
              <a:t>, F. J. H. </a:t>
            </a:r>
            <a:r>
              <a:rPr lang="en-US" dirty="0" err="1"/>
              <a:t>Villarico</a:t>
            </a:r>
            <a:r>
              <a:rPr lang="en-US" dirty="0"/>
              <a:t>, J. J. C. </a:t>
            </a:r>
            <a:r>
              <a:rPr lang="en-US" dirty="0" err="1"/>
              <a:t>Omao</a:t>
            </a:r>
            <a:r>
              <a:rPr lang="en-US" dirty="0"/>
              <a:t>, L. C. P. </a:t>
            </a:r>
            <a:r>
              <a:rPr lang="en-US" dirty="0" err="1"/>
              <a:t>Estaniel</a:t>
            </a:r>
            <a:r>
              <a:rPr lang="en-US" dirty="0"/>
              <a:t>, I. J. P. </a:t>
            </a:r>
            <a:r>
              <a:rPr lang="en-US" dirty="0" err="1"/>
              <a:t>Saldo</a:t>
            </a:r>
            <a:r>
              <a:rPr lang="en-US" dirty="0"/>
              <a:t>, J. R. D. Calo, and M. J. P. </a:t>
            </a:r>
            <a:r>
              <a:rPr lang="en-US" dirty="0" err="1"/>
              <a:t>Dandoy</a:t>
            </a:r>
            <a:r>
              <a:rPr lang="en-US" dirty="0"/>
              <a:t>, "Development and Comparison of Arduino-Based MQ-2 and MQ-6 LPG Leak Sensors," </a:t>
            </a:r>
            <a:r>
              <a:rPr lang="en-US" i="1" dirty="0"/>
              <a:t>American Journal of Sensor Technology</a:t>
            </a:r>
            <a:r>
              <a:rPr lang="en-US" dirty="0"/>
              <a:t>, vol. 7, no. 1, pp. 1-9, 2023, </a:t>
            </a:r>
            <a:r>
              <a:rPr lang="en-US" dirty="0" err="1"/>
              <a:t>doi</a:t>
            </a:r>
            <a:r>
              <a:rPr lang="en-US" dirty="0"/>
              <a:t>: 10.12691/ajst-7-1-1.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11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3" id="{70008AEC-EDED-4511-BBCB-3094E155874B}" vid="{20F39DC6-8556-4458-8AAA-5D2B51347CD2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{3BB03C7A-7DD7-4ECF-B273-961BC5F7D985}tf67061901_win32</Template>
  <TotalTime>287</TotalTime>
  <Words>846</Words>
  <Application>Microsoft Office PowerPoint</Application>
  <PresentationFormat>Widescreen</PresentationFormat>
  <Paragraphs>81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Daytona Condensed Light</vt:lpstr>
      <vt:lpstr>Noto Serif JP</vt:lpstr>
      <vt:lpstr>Posterama</vt:lpstr>
      <vt:lpstr>Roboto</vt:lpstr>
      <vt:lpstr>Symbol</vt:lpstr>
      <vt:lpstr>Titillium Web</vt:lpstr>
      <vt:lpstr>Custom</vt:lpstr>
      <vt:lpstr>Custom Design</vt:lpstr>
      <vt:lpstr>Gas Leakage Detection System</vt:lpstr>
      <vt:lpstr>agenda</vt:lpstr>
      <vt:lpstr>Introduction</vt:lpstr>
      <vt:lpstr>PowerPoint Presentation</vt:lpstr>
      <vt:lpstr>Situation in bangladesh</vt:lpstr>
      <vt:lpstr>How to prevent such gas leaks explosions?</vt:lpstr>
      <vt:lpstr>How to prevent such gas leaks explosions?</vt:lpstr>
      <vt:lpstr>BUT…</vt:lpstr>
      <vt:lpstr>Technological solution</vt:lpstr>
      <vt:lpstr>System overview </vt:lpstr>
      <vt:lpstr>How the Gas Detection System Works</vt:lpstr>
      <vt:lpstr>Main components</vt:lpstr>
      <vt:lpstr>Circuit diagram</vt:lpstr>
      <vt:lpstr>PowerPoint Presentation</vt:lpstr>
      <vt:lpstr>Code Snippet </vt:lpstr>
      <vt:lpstr>PowerPoint Presentation</vt:lpstr>
      <vt:lpstr>System Operation </vt:lpstr>
      <vt:lpstr>Threshold value</vt:lpstr>
      <vt:lpstr>Safe Condition: </vt:lpstr>
      <vt:lpstr>Gas Leak Detected:</vt:lpstr>
      <vt:lpstr>OUTPUT</vt:lpstr>
      <vt:lpstr>PowerPoint Presentation</vt:lpstr>
      <vt:lpstr>Conclusion</vt:lpstr>
      <vt:lpstr>Project Summary:</vt:lpstr>
      <vt:lpstr>Future Improvements: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Leakage Detection System</dc:title>
  <dc:creator>Eazdan Mostafa Rafin</dc:creator>
  <cp:lastModifiedBy>Eazdan Mostafa Rafin</cp:lastModifiedBy>
  <cp:revision>24</cp:revision>
  <dcterms:created xsi:type="dcterms:W3CDTF">2024-10-03T06:56:08Z</dcterms:created>
  <dcterms:modified xsi:type="dcterms:W3CDTF">2024-10-07T16:50:36Z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